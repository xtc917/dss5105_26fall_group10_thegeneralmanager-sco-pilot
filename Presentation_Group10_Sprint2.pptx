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2"/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five questions as Sprint 1. The only addition: a code-like answer or follow-up confuses the GM.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gap as Sprint 1: the DA's time, the unclear question, wait then clarify then query by hand. Close on the code-like answer or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1:50–3:00. Walk the six rows. Do not open a fourth lecture for validation: read the bottom line only. Say clearly what is not built: Monday auto-popup, and the official held-out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Shooting card only. Record the browser, not this slide. Pre-run the two questions while the first three minutes play, so the cut lands on a finished answer. Export and check the file is under 4:50 before you add anything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Opening, about 3.5 seconds. Press F5 once if it waits for a click; the five questions then fade and scale in on their own. This page replaces reading the list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5669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7:00</a:t>
            </a:r>
          </a:p>
          <a:p>
            <a:pPr algn="l">
              <a:spcBef>
                <a:spcPts val="200"/>
              </a:spcBef>
            </a:pPr>
            <a:r>
              <a:rPr sz="2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Did anything go wrong yesterday?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777240"/>
            <a:ext cx="5669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9:40</a:t>
            </a:r>
          </a:p>
          <a:p>
            <a:pPr algn="l">
              <a:spcBef>
                <a:spcPts val="200"/>
              </a:spcBef>
            </a:pPr>
            <a:r>
              <a:rPr sz="2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How is the TrendCart order doing?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5669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11:15</a:t>
            </a:r>
          </a:p>
          <a:p>
            <a:pPr algn="l">
              <a:spcBef>
                <a:spcPts val="200"/>
              </a:spcBef>
            </a:pPr>
            <a:r>
              <a:rPr sz="2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800 hoodies by the 25th. Can we take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2971800"/>
            <a:ext cx="5669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14:30</a:t>
            </a:r>
          </a:p>
          <a:p>
            <a:pPr algn="l">
              <a:spcBef>
                <a:spcPts val="200"/>
              </a:spcBef>
            </a:pPr>
            <a:r>
              <a:rPr sz="2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It hasn't moved in a week. Chase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4800600"/>
            <a:ext cx="5669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8C6A3D"/>
                </a:solidFill>
                <a:latin typeface="Calibri"/>
                <a:ea typeface="Calibri"/>
                <a:cs typeface="Calibri"/>
              </a:rPr>
              <a:t>17:00</a:t>
            </a:r>
          </a:p>
          <a:p>
            <a:pPr algn="l">
              <a:spcBef>
                <a:spcPts val="200"/>
              </a:spcBef>
            </a:pPr>
            <a:r>
              <a:rPr sz="2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Remind me if packing is still behind.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with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200"/>
                            </p:stCondLst>
                            <p:childTnLst>
                              <p:par>
                                <p:par>
                                  <p:cTn id="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4" dur="350"/>
                                          <p:tgtEl>
                                            <p:spTgt spid="2"/>
                                          </p:tgtEl>
                                        </p:cBhvr>
                                      </p:animEffect>
                                      <p:animScale>
                                        <p:cBhvr>
                                          <p:cTn id="15" dur="350"/>
                                          <p:tgtEl>
                                            <p:spTgt spid="2"/>
                                          </p:tgtEl>
                                        </p:cBhvr>
                                        <p:from x="85000" y="85000"/>
                                        <p:to x="100000" y="100000"/>
                                      </p:animScale>
                                    </p:childTnLst>
                                  </p:cTn>
                                </p:par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par>
                                  <p:cTn id="1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9" dur="350"/>
                                          <p:tgtEl>
                                            <p:spTgt spid="3"/>
                                          </p:tgtEl>
                                        </p:cBhvr>
                                      </p:animEffect>
                                      <p:animScale>
                                        <p:cBhvr>
                                          <p:cTn id="20" dur="350"/>
                                          <p:tgtEl>
                                            <p:spTgt spid="3"/>
                                          </p:tgtEl>
                                        </p:cBhvr>
                                        <p:from x="85000" y="85000"/>
                                        <p:to x="100000" y="100000"/>
                                      </p:animScale>
                                    </p:childTnLst>
                                  </p:cTn>
                                </p:par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par>
                                  <p:cTn id="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350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  <p:animScale>
                                        <p:cBhvr>
                                          <p:cTn id="25" dur="350"/>
                                          <p:tgtEl>
                                            <p:spTgt spid="4"/>
                                          </p:tgtEl>
                                        </p:cBhvr>
                                        <p:from x="85000" y="85000"/>
                                        <p:to x="100000" y="100000"/>
                                      </p:animScale>
                                    </p:childTnLst>
                                  </p:cTn>
                                </p:par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par>
                                  <p:cTn id="2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9" dur="35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  <p:animScale>
                                        <p:cBhvr>
                                          <p:cTn id="30" dur="350"/>
                                          <p:tgtEl>
                                            <p:spTgt spid="5"/>
                                          </p:tgtEl>
                                        </p:cBhvr>
                                        <p:from x="85000" y="85000"/>
                                        <p:to x="100000" y="100000"/>
                                      </p:animScale>
                                    </p:childTnLst>
                                  </p:cTn>
                                </p:par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"/>
                            </p:stCondLst>
                            <p:childTnLst>
                              <p:par>
                                <p:par>
                                  <p:cTn id="3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4" dur="35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  <p:animScale>
                                        <p:cBhvr>
                                          <p:cTn id="35" dur="350"/>
                                          <p:tgtEl>
                                            <p:spTgt spid="6"/>
                                          </p:tgtEl>
                                        </p:cBhvr>
                                        <p:from x="85000" y="85000"/>
                                        <p:to x="100000" y="100000"/>
                                      </p:animScale>
                                    </p:childTnLst>
                                  </p:cTn>
                                </p:par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1 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manager asks all day, but cannot write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212848" cy="233172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7:00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783080"/>
            <a:ext cx="1993392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Did anything go wrong yesterday?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108960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Daily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6624" y="1280160"/>
            <a:ext cx="2212848" cy="233172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389888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9:40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1783080"/>
            <a:ext cx="1993392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How is the TrendCart order doing?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3108960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280160"/>
            <a:ext cx="2212848" cy="233172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1389888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11:15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1783080"/>
            <a:ext cx="1993392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800 hoodies by the 25th. Can we take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3108960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Feasibility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280160"/>
            <a:ext cx="2212848" cy="233172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389888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14:30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783080"/>
            <a:ext cx="1993392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It hasn't moved in a week. Chase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08960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Delay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9216" y="1280160"/>
            <a:ext cx="2212848" cy="233172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389888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17:00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8944" y="1783080"/>
            <a:ext cx="1993392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Remind me if packing is still behind.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3108960"/>
            <a:ext cx="19933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840480"/>
            <a:ext cx="113385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SweaterCo's general manager doesn't know SQL. From the 7:00 a.m. morning briefing to the 5:00 p.m. reminder, every question means calling the planners, the data analyst.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Five questions. One busy day. One common problem.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074920"/>
            <a:ext cx="11338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If the answer, or the question we ask back, is written like code, the GM is confused.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No table names, no column names, and no SQL, in the answer or in the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1 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DAs are wasting time on routine and vague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113385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result? The DA loses time to repetitive requests, while the GM is left waiting for unstable answers and unable to make timely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5532120" cy="155448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057400"/>
            <a:ext cx="5577840" cy="155448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GM — Unclear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Complex business needs, without a precise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DA — Heavy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52120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Repeated clarification and ad-hoc SQL interrupt deeper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94760"/>
            <a:ext cx="113385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Not a lack of data. There is a gap between the question and the answer.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The GM knows the business and may not know SQL. The analyst knows the data, and is already on harder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37760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01  Wait     02  Clarify again     03  Query by hand     04  Answers differ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486400"/>
            <a:ext cx="113385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Not a dashboard. Only metrics chosen in advance.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A code-like answer, or a code-like follow-up, leaves the GM confused. The gap stays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Sprint 2  ·  Group 10  ·  1:50–3:00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Progress, 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Left column is what Sprint 1 said we would do next. Fill the owner column with real names.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114300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212080"/>
                <a:gridCol w="1371600"/>
              </a:tblGrid>
              <a:tr h="5421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Sprint 1 left this</a:t>
                      </a:r>
                    </a:p>
                  </a:txBody>
                  <a:tcPr anchor="ctr" marL="73152" marR="73152" marT="36576" marB="36576"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Now</a:t>
                      </a:r>
                    </a:p>
                  </a:txBody>
                  <a:tcPr anchor="ctr" marL="73152" marR="73152" marT="36576" marB="36576"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anchor="ctr" marL="73152" marR="73152" marT="36576" marB="36576">
                    <a:solidFill>
                      <a:srgbClr val="1C1917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Several TrendCart orders, and the model guessed one.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 clarification card asks which one.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“Can we take 800 hoodies?” became yes or no.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 feasibility estimate, with the assumptions written out.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Why restated the previous sentence.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The numbers in Why come from Python.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 lowercase order id missed. Missing data could be invented.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Order ids ignore case. No selling price: refuse, and call no tool.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The 7:00 briefing was not built.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It opens on demand. A Monday auto-popup is not built.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Last week meant asking someone for an export.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Three charts: on time and overdue, four stages, last full week’s products by customer.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349240"/>
            <a:ext cx="11338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Validation. The baseline is Sprint 1’s two failures: the model did the arithmetic, or it answered when the lookup missed. Three hard cases: revenue is not in the tables; TrendCart cannot be chosen for him; week 14 drops because that week stops on 1 April 2026. A formal held-out score is still in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C564E"/>
                </a:solidFill>
                <a:latin typeface="Calibri"/>
                <a:ea typeface="Calibri"/>
                <a:cs typeface="Calibri"/>
              </a:rPr>
              <a:t>Do not play this slide. Record the product.  3:00–5:00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Demo: his day, three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Each scene has three beats: what he needs, what the screen shows, what he does with it. Keep about 3 seconds of the progress line, then cut to the result. A live call is about 30 seconds. Say that in the Q&amp;A.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0574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760720"/>
                <a:gridCol w="4389120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Time</a:t>
                      </a:r>
                    </a:p>
                  </a:txBody>
                  <a:tcPr anchor="ctr" marL="73152" marR="73152" marT="36576" marB="36576"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Do this</a:t>
                      </a:r>
                    </a:p>
                  </a:txBody>
                  <a:tcPr anchor="ctr" marL="73152" marR="73152" marT="36576" marB="36576"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Stop when</a:t>
                      </a:r>
                    </a:p>
                  </a:txBody>
                  <a:tcPr anchor="ctr" marL="73152" marR="73152" marT="36576" marB="36576">
                    <a:solidFill>
                      <a:srgbClr val="1C191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7:00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Open Morning briefing, then Last week's briefing. Stay on the three charts.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You have said week 14 falls because the week is not finished.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9:40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Ask: How is the TrendCart order doing? Pick one option on the card. Open Why.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The answer shows the order, pieces, and status, and Why shows the tool numbers. No SQL.</a:t>
                      </a:r>
                    </a:p>
                  </a:txBody>
                  <a:tcPr anchor="ctr" marL="73152" marR="73152" marT="36576" marB="36576">
                    <a:solidFill>
                      <a:srgbClr val="F6F3E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11:15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Ask: 800 hoodies by the 25th. Can we take it?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917"/>
                          </a:solidFill>
                          <a:latin typeface="Calibri"/>
                          <a:ea typeface="Calibri"/>
                          <a:cs typeface="Calibri"/>
                        </a:rPr>
                        <a:t>The answer is an estimate with assumptions, not “yes”. End the video on this frame.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1917"/>
                </a:solidFill>
                <a:latin typeface="Calibri"/>
                <a:ea typeface="Calibri"/>
                <a:cs typeface="Calibri"/>
              </a:rPr>
              <a:t>14:30 chase and 17:00 reminder stay on the progress slide. Do not open them. Anything after 5:00 is cut.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Presentation_Group10_Sprint2</dc:title>
  <dc:subject>SweaterCo GM Co-Pilot Sprint 2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